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1A222E"/>
                </a:solidFill>
                <a:latin typeface="Calibri"/>
              </a:rPr>
              <a:t>Parallax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0896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556578"/>
                </a:solidFill>
                <a:latin typeface="Calibri"/>
              </a:rPr>
              <a:t>Retirement planning simulator built for financial advisors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556578"/>
                </a:solidFill>
                <a:latin typeface="Calibri"/>
              </a:rPr>
              <a:t>98 years of real market data. Path-consistent Monte Carlo.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556578"/>
                </a:solidFill>
                <a:latin typeface="Calibri"/>
              </a:rPr>
              <a:t>Three account types: Taxable, Traditional, Roth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556578"/>
                </a:solidFill>
                <a:latin typeface="Calibri"/>
              </a:rPr>
              <a:t>Built by an advisor. Not a software company.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22E"/>
                </a:solidFill>
                <a:latin typeface="Calibri"/>
              </a:rPr>
              <a:t>The problem with every other tool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143000"/>
            <a:ext cx="11091672" cy="0"/>
          </a:xfrm>
          <a:prstGeom prst="line">
            <a:avLst/>
          </a:prstGeom>
          <a:ln w="9525">
            <a:solidFill>
              <a:srgbClr val="DD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Built around fear — outputs are calibrated to sell conservative products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Isolated stats: a success rate with no context for what's driving it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Levers don't interact — changing one input doesn't ripple through the plan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Advisors can't safely show the upside. The tool has a bias; it just hides it.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Clients are managed by anxiety rather than an accurate picture of their situation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22E"/>
                </a:solidFill>
                <a:latin typeface="Calibri"/>
              </a:rPr>
              <a:t>What Parallax does differently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143000"/>
            <a:ext cx="11091672" cy="0"/>
          </a:xfrm>
          <a:prstGeom prst="line">
            <a:avLst/>
          </a:prstGeom>
          <a:ln w="9525">
            <a:solidFill>
              <a:srgbClr val="DD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No thesis. Equally willing to say 'you're fine, spend more' as 'this won't last'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The same gauge reads green when news is good and red when it isn't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Models interactions — every lever moves every other lever in real time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The advisor points at a number. The client sees exactly why it moved.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Neutrality is the product. That's why you can trust it in front of a client.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22E"/>
                </a:solidFill>
                <a:latin typeface="Calibri"/>
              </a:rPr>
              <a:t>The engine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143000"/>
            <a:ext cx="11091672" cy="0"/>
          </a:xfrm>
          <a:prstGeom prst="line">
            <a:avLst/>
          </a:prstGeom>
          <a:ln w="9525">
            <a:solidFill>
              <a:srgbClr val="DD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98 years of real annual returns (1928–2025), not synthetic data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Block-bootstrap Monte Carlo — resamples real historical blocks, not random draws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Path-consistent: every year of a simulation uses the same return sequence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Models: sequence-of-returns risk, longevity, healthcare cost trajectory, LTC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Tax: withdrawal sequencing across Taxable / Traditional / Roth, tax multiplier lever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Accumulation phase + pension income + social security + one-time spending events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Pure computation — no UI, no defaults that quietly bias the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22E"/>
                </a:solidFill>
                <a:latin typeface="Calibri"/>
              </a:rPr>
              <a:t>The tax picture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143000"/>
            <a:ext cx="11091672" cy="0"/>
          </a:xfrm>
          <a:prstGeom prst="line">
            <a:avLst/>
          </a:prstGeom>
          <a:ln w="9525">
            <a:solidFill>
              <a:srgbClr val="DD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Three account types modeled independently and correctly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Withdrawal sequencing: which bucket gets drawn first, and what that costs in taxes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Roth conversion scenarios: run the same household with and without conversion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Tax multiplier: stress-test the plan against higher future ordinary income rates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After-tax vs pre-tax balances are never conflated in the output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The gap: no tool today shows the RETIREMENT cost of a tax decision in real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22E"/>
                </a:solidFill>
                <a:latin typeface="Calibri"/>
              </a:rPr>
              <a:t>What advisors see — Scenarios tab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143000"/>
            <a:ext cx="11091672" cy="0"/>
          </a:xfrm>
          <a:prstGeom prst="line">
            <a:avLst/>
          </a:prstGeom>
          <a:ln w="9525">
            <a:solidFill>
              <a:srgbClr val="DD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Baseline column + 1–2 alternative scenarios side by side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Each column: Monte Carlo success % + delta vs baseline the moment you run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Levers: Retirement Age, SS Start Age, Spending, One-Time Event, Allocation, Savings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Hero chart: expected wealth path in today's dollars, current age to plan end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Deterministic line — identical inputs produce identical lines, always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Allocation change fans the lines apart by exactly the compounding difference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Aggressive allocation → higher expected line, lower success circle. That trade-off is the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22E"/>
                </a:solidFill>
                <a:latin typeface="Calibri"/>
              </a:rPr>
              <a:t>What advisors see — Sequencing tab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143000"/>
            <a:ext cx="11091672" cy="0"/>
          </a:xfrm>
          <a:prstGeom prst="line">
            <a:avLst/>
          </a:prstGeom>
          <a:ln w="9525">
            <a:solidFill>
              <a:srgbClr val="DD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Same household plan, run through real historical market sequences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Lines: retire into 1929, 1966 (lost decade), 1973 (stagflation), 2000, 2008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Each line = the same spending, same allocation, different market order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Shows sequence-of-returns risk directly — no abstraction, no jargon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Outcome card per line: first-decade return, lowest balance, survival age or ran-dry age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Advisor can say: 'Here's your plan in the worst sequence of the last 100 years'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22E"/>
                </a:solidFill>
                <a:latin typeface="Calibri"/>
              </a:rPr>
              <a:t>Who it's for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143000"/>
            <a:ext cx="11091672" cy="0"/>
          </a:xfrm>
          <a:prstGeom prst="line">
            <a:avLst/>
          </a:prstGeom>
          <a:ln w="9525">
            <a:solidFill>
              <a:srgbClr val="DD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Fee-only RIAs, personal-CFO model practices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150–300+ households, $100M–$500M+ AUM — advisors who live inside the plan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Practices that need a tool they can trust in a client meeting, not a sales aid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Not a consumer app. Not a robo. A professional instrument.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22E"/>
                </a:solidFill>
                <a:latin typeface="Calibri"/>
              </a:rPr>
              <a:t>Where this fits for you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143000"/>
            <a:ext cx="11091672" cy="0"/>
          </a:xfrm>
          <a:prstGeom prst="line">
            <a:avLst/>
          </a:prstGeom>
          <a:ln w="9525">
            <a:solidFill>
              <a:srgbClr val="DD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Tax decisions don't exist in isolation — every Roth conversion, every bracket move affects the retirement trajectory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Your platform likely shows the tax cost of a decision. Parallax shows the retirement cost.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Integration: account balances, projected tax rates, Roth windows flow directly into the engine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White-label: retirement planning layer inside your existing advisor workflow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Distribution: your advisor or client base gains a best-in-class planning engine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The combination nobody has built: tax + retirement in one coherent, honest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22E"/>
                </a:solidFill>
                <a:latin typeface="Calibri"/>
              </a:rPr>
              <a:t>Status + next steps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143000"/>
            <a:ext cx="11091672" cy="0"/>
          </a:xfrm>
          <a:prstGeom prst="line">
            <a:avLst/>
          </a:prstGeom>
          <a:ln w="9525">
            <a:solidFill>
              <a:srgbClr val="DD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Working prototype today — Scenarios and Sequencing tabs are live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Engine: 98 years of data, full Monte Carlo, tax-aware account modeling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This meeting: understand your platform, your data, your advisor workflow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Next: live demo on a real household scenario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Explore: integration, white-label, co-development, distribution, or investment</a:t>
            </a:r>
          </a:p>
          <a:p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700">
                <a:solidFill>
                  <a:srgbClr val="1A222E"/>
                </a:solidFill>
                <a:latin typeface="Calibri"/>
              </a:rPr>
              <a:t>—  Nathan Robinson, CFP   |   nathan.robinson007@gmail.com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